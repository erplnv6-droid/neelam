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94" r:id="rId2"/>
    <p:sldId id="295" r:id="rId3"/>
    <p:sldId id="296" r:id="rId4"/>
    <p:sldId id="297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29E"/>
    <a:srgbClr val="4D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737"/>
  </p:normalViewPr>
  <p:slideViewPr>
    <p:cSldViewPr snapToGrid="0" showGuides="1">
      <p:cViewPr varScale="1">
        <p:scale>
          <a:sx n="59" d="100"/>
          <a:sy n="59" d="100"/>
        </p:scale>
        <p:origin x="12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1990-9573-5144-838A-08F185E16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B8CFA-B9E9-E363-3781-99A4CA555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F7BF-10BA-AEA7-4D44-4B1FF4C7B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FF3F1-1F29-1B8B-4A8A-38A937203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6D971-7902-7528-5814-23FF8F02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1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7A43-F349-0C9B-4FEC-46DF77CC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D729-EECD-38AA-A651-6EE4AF1F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28C09-A6DC-6BEF-6D41-C1011643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7F783-E66A-1EA9-73BF-27EC0B67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2BB42-C155-F75D-C8BD-5C2A3593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9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ED483-6329-4958-9E29-53CD7D595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BAE00-7EA2-E930-BED3-3F2207CDC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2002-BAB5-D63B-2A8E-82A0342F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A8B20-4276-2880-5436-736D5EFC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F0092-43BE-8D5E-D77A-E086E5BF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53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2C0E-47C1-F7D4-AC5B-64E50AC3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B941F-7764-5FD8-E19B-A8DCC222F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FB6E8-AC04-D739-B6A2-EB9191AEA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B1464-9BA6-E7F3-08BB-B79064B0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4BA18-AEA5-16AB-5C69-25E09C2B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2CAF2-690E-C893-ECC3-E8E409FBA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0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88D2-0D2F-3D9D-D605-EE89BC3A6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9AB6A-5E6F-7B1A-04CE-43A0EE7FB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5DD81-0E19-DA08-F2AA-93F1C888F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7B1A1-D989-4205-4533-4298A0F93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B39BA-E4E7-2A2D-0E1C-3755AD89C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60C8C-E638-7A94-6B72-A0FE39C0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B206C-2CC7-38E7-1B72-28D93EE5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157A0C-EE89-8FDA-C343-11058D3A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5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91FE-EA61-830D-7916-C4467BBB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62A9C-4896-3FED-BEEB-91EF93D4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F0FEB-92C6-BAEC-72D6-8ECFAE1F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72B2C-474F-B903-7206-0DDD6CBF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06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66D0E-C4CF-BDD8-64ED-266415BF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9D633-FB27-A56C-4E9C-B472E0EB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53E7-6C74-BECF-F3DE-9EAA10ED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02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BBDE-64DD-650D-2EA3-409C48DD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E4BD5-56D4-890A-1E41-699253432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C181B-D4B8-0BEB-4B2C-E7AD47AFA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CC0D8-9CBD-972B-702A-485A23CB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E3CB9-86D3-3420-F5EE-310624A8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A1E5A-E002-3A75-C27B-C42E24C2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36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E6A4-CC83-F67A-5C8A-1FA651772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4FD3E-8F4A-5405-990B-DDBAB0B54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C614B-2E18-7714-D004-4F3C53B61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21E97-BA38-E875-5C1D-8138C7F6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EAEB1-9FA0-E104-2D7F-510BC9CC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22FBD-DF53-833A-65A4-D313C84F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80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7695-AD38-837D-FB0D-146A32F1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E2F0F-522A-B4CF-AC13-022BE4EAD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2DA5-95DA-E462-FECC-241E7E4C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09246-4B0D-EDBE-E6EB-45E8E494D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790CC-0615-A494-326A-334C3087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28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EA315-C379-F02C-FC38-12B69F429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BDA98-C64B-AE9D-A5E1-2DA35BC7B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1C8A7-3FBD-7CD8-86D5-D526F47DD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76362-AF91-AB70-E893-0D4C9E81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F8A03-B1F3-7FDE-D918-C49A0416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346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0852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42E7AC-85AA-F547-D9E2-A8B50CFCCCD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of Neelam stainless steel |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356E30-92EA-F07E-5749-C7E9D9EE27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2956367"/>
            <a:ext cx="3607765" cy="94526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95E024-7183-2598-5ABE-A5FDC89CF2C4}"/>
              </a:ext>
            </a:extLst>
          </p:cNvPr>
          <p:cNvCxnSpPr/>
          <p:nvPr userDrawn="1"/>
        </p:nvCxnSpPr>
        <p:spPr>
          <a:xfrm>
            <a:off x="6099208" y="2427121"/>
            <a:ext cx="0" cy="214643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748AD16F-3F7C-5CF7-E9BD-7A4549C29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3990" y="2860036"/>
            <a:ext cx="5400667" cy="717003"/>
          </a:xfrm>
          <a:prstGeom prst="rect">
            <a:avLst/>
          </a:prstGeom>
        </p:spPr>
        <p:txBody>
          <a:bodyPr/>
          <a:lstStyle>
            <a:lvl1pPr algn="ctr">
              <a:defRPr sz="36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r>
              <a:rPr lang="en-GB" dirty="0"/>
              <a:t>ANNAUL SALES TEAM MEET 2025-26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735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97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1470A8-029E-569C-92BD-D3248B00BF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4659" y="6365631"/>
            <a:ext cx="1301035" cy="339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05E6B7-545D-EE93-2363-0A83157927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0574" y="6365630"/>
            <a:ext cx="326767" cy="339969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E5F0B-5B40-337C-DF0F-8953BDEB36D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8529E"/>
                </a:solidFill>
              </a:rPr>
              <a:t>Copyright of Neelam stainless steel |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053BB-A623-DD6D-F83B-50F30F8201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325" y="631704"/>
            <a:ext cx="375381" cy="339968"/>
          </a:xfrm>
          <a:prstGeom prst="rect">
            <a:avLst/>
          </a:prstGeom>
        </p:spPr>
      </p:pic>
      <p:sp>
        <p:nvSpPr>
          <p:cNvPr id="6" name="Title 12">
            <a:extLst>
              <a:ext uri="{FF2B5EF4-FFF2-40B4-BE49-F238E27FC236}">
                <a16:creationId xmlns:a16="http://schemas.microsoft.com/office/drawing/2014/main" id="{044CCA87-1033-FBE2-FE85-DD1D9ECAF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405" y="549275"/>
            <a:ext cx="10286269" cy="504826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8529E"/>
                </a:solidFill>
                <a:latin typeface="Montserrat Medium" pitchFamily="2" charset="77"/>
              </a:defRPr>
            </a:lvl1pPr>
          </a:lstStyle>
          <a:p>
            <a:r>
              <a:rPr lang="en-GB" dirty="0"/>
              <a:t>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86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438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34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bg>
      <p:bgPr>
        <a:solidFill>
          <a:srgbClr val="0852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3FCD4B-A77A-C453-4C03-06B3F82BE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0" y="3328287"/>
            <a:ext cx="3878317" cy="2014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37297DB-1E04-BAE2-E8EB-B25D55E5B618}"/>
              </a:ext>
            </a:extLst>
          </p:cNvPr>
          <p:cNvSpPr txBox="1">
            <a:spLocks/>
          </p:cNvSpPr>
          <p:nvPr userDrawn="1"/>
        </p:nvSpPr>
        <p:spPr>
          <a:xfrm>
            <a:off x="2929759" y="2582318"/>
            <a:ext cx="6332482" cy="1329471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b="1" i="0" dirty="0">
                <a:latin typeface="Montserrat Medium" pitchFamily="2" charset="77"/>
              </a:rPr>
              <a:t>Thank You</a:t>
            </a:r>
            <a:endParaRPr lang="en-US" sz="6000" b="1" i="0" dirty="0">
              <a:latin typeface="Montserrat Medium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8F3D6-FE70-92AE-51F3-920BD8846E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314999" y="3328287"/>
            <a:ext cx="3878317" cy="201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93FCCB-ED67-3AA5-6D33-2C4AEDFAE4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89258" y="4096690"/>
            <a:ext cx="2413483" cy="63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50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7242">
          <p15:clr>
            <a:srgbClr val="FBAE40"/>
          </p15:clr>
        </p15:guide>
        <p15:guide id="3" pos="438">
          <p15:clr>
            <a:srgbClr val="FBAE40"/>
          </p15:clr>
        </p15:guide>
        <p15:guide id="4" orient="horz" pos="3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Body copy &amp;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1470A8-029E-569C-92BD-D3248B00BF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4659" y="6365631"/>
            <a:ext cx="1301035" cy="339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05E6B7-545D-EE93-2363-0A83157927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0574" y="6365630"/>
            <a:ext cx="326767" cy="339969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E5F0B-5B40-337C-DF0F-8953BDEB36D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8529E"/>
                </a:solidFill>
              </a:rPr>
              <a:t>Copyright of Neelam stainless steel | 2025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9AF06FE-65DC-B8CE-54EC-67928968FE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327150"/>
            <a:ext cx="5400674" cy="4381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F"/>
                </a:solidFill>
              </a:defRPr>
            </a:lvl1pPr>
          </a:lstStyle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A2F3C8-B916-210B-BE33-9491C03A3D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325" y="631704"/>
            <a:ext cx="375381" cy="339968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0374196B-D359-98FF-D6C2-44E47566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405" y="549275"/>
            <a:ext cx="10286269" cy="504826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8529E"/>
                </a:solidFill>
                <a:latin typeface="Montserrat Medium" pitchFamily="2" charset="77"/>
              </a:defRPr>
            </a:lvl1pPr>
          </a:lstStyle>
          <a:p>
            <a:r>
              <a:rPr lang="en-GB" dirty="0"/>
              <a:t>Headline</a:t>
            </a:r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4595EC6-A707-59B1-8A32-BFF55F1E3E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10405" y="1327150"/>
            <a:ext cx="4555395" cy="4381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F"/>
                </a:solidFill>
              </a:defRPr>
            </a:lvl1pPr>
            <a:lvl2pPr>
              <a:defRPr>
                <a:solidFill>
                  <a:srgbClr val="4D4D4F"/>
                </a:solidFill>
              </a:defRPr>
            </a:lvl2pPr>
            <a:lvl3pPr>
              <a:defRPr>
                <a:solidFill>
                  <a:srgbClr val="4D4D4F"/>
                </a:solidFill>
              </a:defRPr>
            </a:lvl3pPr>
            <a:lvl4pPr>
              <a:defRPr>
                <a:solidFill>
                  <a:srgbClr val="4D4D4F"/>
                </a:solidFill>
              </a:defRPr>
            </a:lvl4pPr>
            <a:lvl5pPr>
              <a:defRPr>
                <a:solidFill>
                  <a:srgbClr val="4D4D4F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08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1470A8-029E-569C-92BD-D3248B00BF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4659" y="6365631"/>
            <a:ext cx="1301035" cy="339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05E6B7-545D-EE93-2363-0A83157927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0574" y="6365630"/>
            <a:ext cx="326767" cy="339969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E5F0B-5B40-337C-DF0F-8953BDEB36D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8529E"/>
                </a:solidFill>
              </a:rPr>
              <a:t>Copyright of Neelam stainless steel |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B77839-4059-907A-2696-BC615A61A4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325" y="631704"/>
            <a:ext cx="375381" cy="339968"/>
          </a:xfrm>
          <a:prstGeom prst="rect">
            <a:avLst/>
          </a:prstGeom>
        </p:spPr>
      </p:pic>
      <p:sp>
        <p:nvSpPr>
          <p:cNvPr id="8" name="Title 12">
            <a:extLst>
              <a:ext uri="{FF2B5EF4-FFF2-40B4-BE49-F238E27FC236}">
                <a16:creationId xmlns:a16="http://schemas.microsoft.com/office/drawing/2014/main" id="{05CE39B7-21D4-5124-3622-356517B9D5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405" y="549275"/>
            <a:ext cx="10286269" cy="504826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8529E"/>
                </a:solidFill>
                <a:latin typeface="Montserrat Medium" pitchFamily="2" charset="77"/>
              </a:defRPr>
            </a:lvl1pPr>
          </a:lstStyle>
          <a:p>
            <a:r>
              <a:rPr lang="en-GB" dirty="0"/>
              <a:t>Headline</a:t>
            </a:r>
            <a:endParaRPr lang="en-US" dirty="0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9E9462FA-56B1-DE73-ECC1-E1CD861A73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0405" y="1327150"/>
            <a:ext cx="4555395" cy="4381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529E"/>
                </a:solidFill>
              </a:defRPr>
            </a:lvl1pPr>
            <a:lvl2pPr>
              <a:defRPr>
                <a:solidFill>
                  <a:srgbClr val="08529E"/>
                </a:solidFill>
              </a:defRPr>
            </a:lvl2pPr>
            <a:lvl3pPr>
              <a:defRPr>
                <a:solidFill>
                  <a:srgbClr val="08529E"/>
                </a:solidFill>
              </a:defRPr>
            </a:lvl3pPr>
            <a:lvl4pPr>
              <a:defRPr>
                <a:solidFill>
                  <a:srgbClr val="08529E"/>
                </a:solidFill>
              </a:defRPr>
            </a:lvl4pPr>
            <a:lvl5pPr>
              <a:defRPr>
                <a:solidFill>
                  <a:srgbClr val="08529E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5471A54-EFF8-8527-EF02-6678CD2EC0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1327150"/>
            <a:ext cx="5400673" cy="4381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F"/>
                </a:solidFill>
              </a:defRPr>
            </a:lvl1pPr>
            <a:lvl2pPr>
              <a:defRPr>
                <a:solidFill>
                  <a:srgbClr val="4D4D4F"/>
                </a:solidFill>
              </a:defRPr>
            </a:lvl2pPr>
            <a:lvl3pPr>
              <a:defRPr>
                <a:solidFill>
                  <a:srgbClr val="4D4D4F"/>
                </a:solidFill>
              </a:defRPr>
            </a:lvl3pPr>
            <a:lvl4pPr>
              <a:defRPr>
                <a:solidFill>
                  <a:srgbClr val="4D4D4F"/>
                </a:solidFill>
              </a:defRPr>
            </a:lvl4pPr>
            <a:lvl5pPr>
              <a:defRPr>
                <a:solidFill>
                  <a:srgbClr val="4D4D4F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67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7242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1470A8-029E-569C-92BD-D3248B00BF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4659" y="6365631"/>
            <a:ext cx="1301035" cy="339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05E6B7-545D-EE93-2363-0A83157927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0574" y="6365630"/>
            <a:ext cx="326767" cy="339969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E5F0B-5B40-337C-DF0F-8953BDEB36D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8529E"/>
                </a:solidFill>
              </a:rPr>
              <a:t>Copyright of Neelam stainless steel | 2025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4D33DA-E233-8E65-094D-B07B996B41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0431" y="13970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C6D9FB8-0B88-82AB-1B2D-93DC5B8AE3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10431" y="18034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4D4D4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D2AB06E-2A19-717A-88C3-B6AE521246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0431" y="25146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CA312C6-3F56-6948-757B-D6FC36505E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0431" y="29210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4D4D4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BE77C4C-D25C-1C2C-27D9-BA74FA907A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10431" y="36322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62DDE04-00B7-CF63-C0BD-C03F92AD7D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10431" y="40386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4D4D4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A4338FE-67AC-EE2F-2BD8-D0405D7B1A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10431" y="47498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035833F-86E5-AAD5-AB7F-409F4D2E3D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10431" y="51562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4D4D4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729A9A4-B0B0-0A79-482C-1942681121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025" y="1397000"/>
            <a:ext cx="515938" cy="406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US" dirty="0"/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C46F9C1F-0228-BEFB-BA12-F2A2423497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8025" y="2476500"/>
            <a:ext cx="515938" cy="406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774B0D23-7BCC-6205-3384-C75EEE72A26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8025" y="3606800"/>
            <a:ext cx="515938" cy="406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US" dirty="0"/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64C092F6-F10C-FEB4-5E9E-83CF48ACBC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8025" y="4737100"/>
            <a:ext cx="515938" cy="406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0154B1F-2DDD-0608-6A77-2701BB3A49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325" y="631704"/>
            <a:ext cx="375381" cy="339968"/>
          </a:xfrm>
          <a:prstGeom prst="rect">
            <a:avLst/>
          </a:prstGeom>
        </p:spPr>
      </p:pic>
      <p:sp>
        <p:nvSpPr>
          <p:cNvPr id="37" name="Title 12">
            <a:extLst>
              <a:ext uri="{FF2B5EF4-FFF2-40B4-BE49-F238E27FC236}">
                <a16:creationId xmlns:a16="http://schemas.microsoft.com/office/drawing/2014/main" id="{28693016-0655-7903-DB80-A42FCEDE7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405" y="549275"/>
            <a:ext cx="10286269" cy="504826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8529E"/>
                </a:solidFill>
                <a:latin typeface="Montserrat Medium" pitchFamily="2" charset="77"/>
              </a:defRPr>
            </a:lvl1pPr>
          </a:lstStyle>
          <a:p>
            <a:r>
              <a:rPr lang="en-GB" dirty="0"/>
              <a:t>Headline</a:t>
            </a:r>
            <a:endParaRPr lang="en-US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416D459B-D739-BC64-EA71-63A930062E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176231" y="13970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58FB4EEE-9847-8DBC-96CC-5F0C0A9D0D7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176231" y="18034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4D4D4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C32A77CC-CCAB-8318-5707-D37C1A4AE8E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176231" y="25146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D4DBAD6F-7685-5D0E-A6A0-376601CA626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176231" y="29210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4D4D4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BA3BDC9C-F251-B4EC-3287-D40626BC25C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176231" y="36322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085CA838-790D-A823-A126-E3FCAE50997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176231" y="40386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4D4D4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27C6AD69-92EC-A2CA-392B-CEDC0E94E32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176231" y="47498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19F629B3-525D-EE89-7D22-45E5ECCEA77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176231" y="5156200"/>
            <a:ext cx="4304570" cy="5048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4D4D4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E4AAD89E-7BE9-FE81-F3B1-F43E364B69B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73825" y="1397000"/>
            <a:ext cx="515938" cy="406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0CE66F7E-D99A-1353-BA71-440CD4627AB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73825" y="2476500"/>
            <a:ext cx="515938" cy="406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US" dirty="0"/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3445A6BE-E652-53B4-525D-06556276E6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73825" y="3606800"/>
            <a:ext cx="515938" cy="406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49D12495-B40F-9C37-DEEC-26A06E453A2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473825" y="4737100"/>
            <a:ext cx="515938" cy="406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15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/Separator ">
    <p:bg>
      <p:bgPr>
        <a:solidFill>
          <a:srgbClr val="0852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F086B6-30DB-287C-4632-4712FD83C5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7357241" y="465193"/>
            <a:ext cx="5650112" cy="587839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45B3D36-8C69-A5C5-C127-3B1850A5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711997"/>
            <a:ext cx="5257800" cy="717003"/>
          </a:xfrm>
          <a:prstGeom prst="rect">
            <a:avLst/>
          </a:prstGeom>
        </p:spPr>
        <p:txBody>
          <a:bodyPr/>
          <a:lstStyle>
            <a:lvl1pPr algn="l">
              <a:defRPr sz="54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51750B-3461-DAB0-BA33-1E008C19B315}"/>
              </a:ext>
            </a:extLst>
          </p:cNvPr>
          <p:cNvSpPr txBox="1">
            <a:spLocks/>
          </p:cNvSpPr>
          <p:nvPr userDrawn="1"/>
        </p:nvSpPr>
        <p:spPr>
          <a:xfrm>
            <a:off x="695325" y="3574643"/>
            <a:ext cx="5257800" cy="71700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/>
                </a:solidFill>
                <a:latin typeface="Montserrat Medium" pitchFamily="2" charset="77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chemeClr val="bg1"/>
                </a:solidFill>
              </a:rPr>
              <a:t>Click to edit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96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1470A8-029E-569C-92BD-D3248B00BF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4659" y="6365631"/>
            <a:ext cx="1301035" cy="339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05E6B7-545D-EE93-2363-0A83157927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0574" y="6365630"/>
            <a:ext cx="326767" cy="339969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E5F0B-5B40-337C-DF0F-8953BDEB36D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8529E"/>
                </a:solidFill>
              </a:rPr>
              <a:t>Copyright of Neelam stainless steel | 2025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E973FB-186E-9BBA-0CD7-A7EB8345E0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5325" y="549275"/>
            <a:ext cx="5299076" cy="53943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1E352226-121E-982E-6A2C-B44695D953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97600" y="549275"/>
            <a:ext cx="5299075" cy="28035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29828216-DBC4-2E40-5EC4-6928FEE8D8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7600" y="3543300"/>
            <a:ext cx="2565400" cy="24003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350732BB-6172-48A2-7812-BBF40EFDF8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1276" y="3543300"/>
            <a:ext cx="2565400" cy="24003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53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C33A3-BA5A-FF0F-371D-92C3D41E5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14055-2869-1E6F-6C9A-A523376A7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5A240-A259-D3A7-FF91-FB8D920C1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5DAD-CA22-0F5C-C0E6-05C5B1329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26527-8FE8-7C4F-B16D-695015796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8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7" r:id="rId14"/>
    <p:sldLayoutId id="2147483653" r:id="rId15"/>
    <p:sldLayoutId id="2147483654" r:id="rId16"/>
    <p:sldLayoutId id="2147483655" r:id="rId17"/>
    <p:sldLayoutId id="2147483651" r:id="rId18"/>
    <p:sldLayoutId id="214748365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A192-9EF3-B02F-D7CE-6A92B084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35D1-CCDA-0B2B-8EF1-BB3DCD93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05" y="3070498"/>
            <a:ext cx="5400667" cy="717003"/>
          </a:xfrm>
        </p:spPr>
        <p:txBody>
          <a:bodyPr/>
          <a:lstStyle/>
          <a:p>
            <a:pPr marL="0" marR="0" lvl="0" indent="0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DEALER SCHEMES</a:t>
            </a:r>
          </a:p>
        </p:txBody>
      </p:sp>
    </p:spTree>
    <p:extLst>
      <p:ext uri="{BB962C8B-B14F-4D97-AF65-F5344CB8AC3E}">
        <p14:creationId xmlns:p14="http://schemas.microsoft.com/office/powerpoint/2010/main" val="526060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B17D-C0E0-5FD6-8DDD-244B50A2D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21DDAF-1F3C-A883-BD67-F4228E85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939"/>
            <a:ext cx="10515600" cy="1101709"/>
          </a:xfrm>
        </p:spPr>
        <p:txBody>
          <a:bodyPr/>
          <a:lstStyle/>
          <a:p>
            <a:pPr algn="ctr"/>
            <a:r>
              <a:rPr lang="en-IN" b="1" dirty="0"/>
              <a:t>DEALER SCHEME MAY JUNE JULY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F053B-03EB-BA08-CCAD-DDFB2E459C91}"/>
              </a:ext>
            </a:extLst>
          </p:cNvPr>
          <p:cNvSpPr txBox="1"/>
          <p:nvPr/>
        </p:nvSpPr>
        <p:spPr>
          <a:xfrm>
            <a:off x="838200" y="3916914"/>
            <a:ext cx="1091837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sng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Terms &amp; Conditions: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Above scheme is on Box and KG items only under Neelam Brand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Payment Terms - not exceeding 45 Days from the date of Billing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Orders to be processed on SWIFT Application Only.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IN" sz="2000" dirty="0">
                <a:solidFill>
                  <a:srgbClr val="034EA2"/>
                </a:solidFill>
                <a:latin typeface="Montserrat" panose="00000500000000000000" pitchFamily="2" charset="0"/>
              </a:rPr>
              <a:t>Subject to Distributor’s Approval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1A7DCD-87DF-F5D7-6CE6-E64C5A0A6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663982"/>
              </p:ext>
            </p:extLst>
          </p:nvPr>
        </p:nvGraphicFramePr>
        <p:xfrm>
          <a:off x="1415143" y="1144705"/>
          <a:ext cx="9100457" cy="2627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620">
                  <a:extLst>
                    <a:ext uri="{9D8B030D-6E8A-4147-A177-3AD203B41FA5}">
                      <a16:colId xmlns:a16="http://schemas.microsoft.com/office/drawing/2014/main" val="631916695"/>
                    </a:ext>
                  </a:extLst>
                </a:gridCol>
                <a:gridCol w="4216837">
                  <a:extLst>
                    <a:ext uri="{9D8B030D-6E8A-4147-A177-3AD203B41FA5}">
                      <a16:colId xmlns:a16="http://schemas.microsoft.com/office/drawing/2014/main" val="2857055131"/>
                    </a:ext>
                  </a:extLst>
                </a:gridCol>
              </a:tblGrid>
              <a:tr h="45614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Montserrat" panose="00000500000000000000" pitchFamily="2" charset="0"/>
                        </a:rPr>
                        <a:t>BILLING AMOUNT (EXCL 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REWARD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275281"/>
                  </a:ext>
                </a:extLst>
              </a:tr>
              <a:tr h="55303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tserrat" panose="00000500000000000000" pitchFamily="2" charset="0"/>
                        </a:rPr>
                        <a:t>BUY NEELAM GOODS WORTH RS. 3,00,000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Montserrat" panose="00000500000000000000" pitchFamily="2" charset="0"/>
                        </a:rPr>
                        <a:t>GET A 42 inch TV/ Neelam Product FREE worth MRP 44,990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31622"/>
                  </a:ext>
                </a:extLst>
              </a:tr>
              <a:tr h="70831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tserrat" panose="00000500000000000000" pitchFamily="2" charset="0"/>
                        </a:rPr>
                        <a:t>BUY NEELAM GOODS WORTH RS. 1,50,000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Montserrat" panose="00000500000000000000" pitchFamily="2" charset="0"/>
                        </a:rPr>
                        <a:t>GET A TROLLY SET 3 PC/ Neelam Product FREE worth minimum MRP 20,990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746569"/>
                  </a:ext>
                </a:extLst>
              </a:tr>
              <a:tr h="708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Montserrat" panose="00000500000000000000" pitchFamily="2" charset="0"/>
                        </a:rPr>
                        <a:t>BUY NEELAM GOODS WORTH RS. 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Montserrat" panose="00000500000000000000" pitchFamily="2" charset="0"/>
                        </a:rPr>
                        <a:t>GET A COOLER/Neelam Product FREE worth minimum MRP 8,990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057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6DE2658-93EA-58DF-5D1F-7C319308D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255" y="1237937"/>
            <a:ext cx="1086002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0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7256F-537A-8BFD-0A3B-33DD2859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7EE1A9-B9F1-FD30-2F66-57D8CE13D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1021"/>
            <a:ext cx="10515600" cy="1101709"/>
          </a:xfrm>
        </p:spPr>
        <p:txBody>
          <a:bodyPr/>
          <a:lstStyle/>
          <a:p>
            <a:pPr algn="ctr"/>
            <a:r>
              <a:rPr lang="en-IN" b="1" dirty="0"/>
              <a:t>MERCHANDISE FOR DEALER OFFER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6EA2E-DC4C-35E3-CBAA-C6D44DC421D8}"/>
              </a:ext>
            </a:extLst>
          </p:cNvPr>
          <p:cNvSpPr txBox="1"/>
          <p:nvPr/>
        </p:nvSpPr>
        <p:spPr>
          <a:xfrm>
            <a:off x="838200" y="3916914"/>
            <a:ext cx="1091837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sng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Terms &amp; Conditions: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Above scheme is on Box and KG items only under Neelam Brand.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Payment Terms not exceeding 45 Days from the date of Billing.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Orders to be processed on SWIFT Application Only.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IN" sz="2000" dirty="0">
                <a:solidFill>
                  <a:srgbClr val="034EA2"/>
                </a:solidFill>
                <a:latin typeface="Montserrat" panose="00000500000000000000" pitchFamily="2" charset="0"/>
              </a:rPr>
              <a:t>Subject to approval from Authorised Distributor.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Merchandise set includes 2x Pen, 1xPoncho, 2xWriting Pad, 2 x Cap</a:t>
            </a:r>
            <a:r>
              <a:rPr lang="en-IN" sz="2000" dirty="0">
                <a:solidFill>
                  <a:srgbClr val="034EA2"/>
                </a:solidFill>
                <a:latin typeface="Montserrat" panose="00000500000000000000" pitchFamily="2" charset="0"/>
              </a:rPr>
              <a:t>, 2x Blue t shirt, 5 x Shopping Bag worth Rs. 900. (MRP approx. 2000)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A18417-B3A8-2345-F1F2-450BD0E70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420496"/>
              </p:ext>
            </p:extLst>
          </p:nvPr>
        </p:nvGraphicFramePr>
        <p:xfrm>
          <a:off x="587829" y="516662"/>
          <a:ext cx="11168740" cy="3345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1752">
                  <a:extLst>
                    <a:ext uri="{9D8B030D-6E8A-4147-A177-3AD203B41FA5}">
                      <a16:colId xmlns:a16="http://schemas.microsoft.com/office/drawing/2014/main" val="631916695"/>
                    </a:ext>
                  </a:extLst>
                </a:gridCol>
                <a:gridCol w="1834247">
                  <a:extLst>
                    <a:ext uri="{9D8B030D-6E8A-4147-A177-3AD203B41FA5}">
                      <a16:colId xmlns:a16="http://schemas.microsoft.com/office/drawing/2014/main" val="3328362123"/>
                    </a:ext>
                  </a:extLst>
                </a:gridCol>
                <a:gridCol w="1834247">
                  <a:extLst>
                    <a:ext uri="{9D8B030D-6E8A-4147-A177-3AD203B41FA5}">
                      <a16:colId xmlns:a16="http://schemas.microsoft.com/office/drawing/2014/main" val="3710450274"/>
                    </a:ext>
                  </a:extLst>
                </a:gridCol>
                <a:gridCol w="1834247">
                  <a:extLst>
                    <a:ext uri="{9D8B030D-6E8A-4147-A177-3AD203B41FA5}">
                      <a16:colId xmlns:a16="http://schemas.microsoft.com/office/drawing/2014/main" val="3504738842"/>
                    </a:ext>
                  </a:extLst>
                </a:gridCol>
                <a:gridCol w="1834247">
                  <a:extLst>
                    <a:ext uri="{9D8B030D-6E8A-4147-A177-3AD203B41FA5}">
                      <a16:colId xmlns:a16="http://schemas.microsoft.com/office/drawing/2014/main" val="2676277925"/>
                    </a:ext>
                  </a:extLst>
                </a:gridCol>
              </a:tblGrid>
              <a:tr h="291771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Montserrat" panose="00000500000000000000" pitchFamily="2" charset="0"/>
                        </a:rPr>
                        <a:t>BILLING AMOUNT (EXCL 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Montserrat" panose="00000500000000000000" pitchFamily="2" charset="0"/>
                        </a:rPr>
                        <a:t>Q1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Montserrat" panose="00000500000000000000" pitchFamily="2" charset="0"/>
                        </a:rPr>
                        <a:t>Q2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Montserrat" panose="00000500000000000000" pitchFamily="2" charset="0"/>
                        </a:rPr>
                        <a:t>Q3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Montserrat" panose="00000500000000000000" pitchFamily="2" charset="0"/>
                        </a:rPr>
                        <a:t>Q4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275281"/>
                  </a:ext>
                </a:extLst>
              </a:tr>
              <a:tr h="700251">
                <a:tc>
                  <a:txBody>
                    <a:bodyPr/>
                    <a:lstStyle/>
                    <a:p>
                      <a:pPr algn="ctr"/>
                      <a:r>
                        <a:rPr kumimoji="0" lang="en-IN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Download SWIFT and place order worth 90,000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31622"/>
                  </a:ext>
                </a:extLst>
              </a:tr>
              <a:tr h="700251">
                <a:tc>
                  <a:txBody>
                    <a:bodyPr/>
                    <a:lstStyle/>
                    <a:p>
                      <a:pPr algn="ctr"/>
                      <a:r>
                        <a:rPr kumimoji="0" lang="en-IN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Download SWIFT and place order worth 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746569"/>
                  </a:ext>
                </a:extLst>
              </a:tr>
              <a:tr h="846383">
                <a:tc>
                  <a:txBody>
                    <a:bodyPr/>
                    <a:lstStyle/>
                    <a:p>
                      <a:pPr algn="ctr"/>
                      <a:r>
                        <a:rPr kumimoji="0" lang="en-IN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Download SWIFT and place order worth 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803212"/>
                  </a:ext>
                </a:extLst>
              </a:tr>
              <a:tr h="700251">
                <a:tc>
                  <a:txBody>
                    <a:bodyPr/>
                    <a:lstStyle/>
                    <a:p>
                      <a:pPr algn="ctr"/>
                      <a:r>
                        <a:rPr kumimoji="0" lang="en-IN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Download SWIFT and place order worth  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34EA2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Get Neelam Merchandise Set x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74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79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248C-6AD5-6DFF-9BE9-2BD58FD12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Silver Coins Falling Images - Free Download on Freepik">
            <a:extLst>
              <a:ext uri="{FF2B5EF4-FFF2-40B4-BE49-F238E27FC236}">
                <a16:creationId xmlns:a16="http://schemas.microsoft.com/office/drawing/2014/main" id="{E78A65B2-2E9D-B3C1-E4A6-5B5C36373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37720" y="1179539"/>
            <a:ext cx="2930147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390057-EFD4-D135-ECDC-ED1B06147F06}"/>
              </a:ext>
            </a:extLst>
          </p:cNvPr>
          <p:cNvSpPr txBox="1"/>
          <p:nvPr/>
        </p:nvSpPr>
        <p:spPr>
          <a:xfrm>
            <a:off x="734786" y="1467082"/>
            <a:ext cx="1072242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defRPr/>
            </a:pPr>
            <a:r>
              <a:rPr lang="en-IN" sz="2000" b="1" u="sng" dirty="0">
                <a:solidFill>
                  <a:srgbClr val="034EA2"/>
                </a:solidFill>
                <a:latin typeface="Montserrat" panose="00000500000000000000" pitchFamily="2" charset="0"/>
              </a:rPr>
              <a:t>Terms &amp; Conditions: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IN" sz="2000" dirty="0">
                <a:solidFill>
                  <a:srgbClr val="034EA2"/>
                </a:solidFill>
                <a:latin typeface="Montserrat" panose="00000500000000000000" pitchFamily="2" charset="0"/>
              </a:rPr>
              <a:t>Payment Terms 45 Days from the date of Billing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IN" sz="2000" dirty="0">
                <a:solidFill>
                  <a:srgbClr val="034EA2"/>
                </a:solidFill>
                <a:latin typeface="Montserrat" panose="00000500000000000000" pitchFamily="2" charset="0"/>
              </a:rPr>
              <a:t>Orders to be processed on SWIFT Application Only.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IN" sz="2000" dirty="0">
                <a:solidFill>
                  <a:srgbClr val="034EA2"/>
                </a:solidFill>
                <a:latin typeface="Montserrat" panose="00000500000000000000" pitchFamily="2" charset="0"/>
              </a:rPr>
              <a:t>Regional trip will be announced by 1st May 2026 eligible for only 1 person per retail outlet</a:t>
            </a:r>
            <a:r>
              <a:rPr lang="en-IN" sz="2000" dirty="0">
                <a:solidFill>
                  <a:prstClr val="black"/>
                </a:solidFill>
                <a:latin typeface="Montserrat 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1DC467-71A1-B088-FC8E-0B216ECA9B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98" y="-208156"/>
            <a:ext cx="1666696" cy="1666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647690-84AE-AF3E-62A4-29C4A5B94102}"/>
              </a:ext>
            </a:extLst>
          </p:cNvPr>
          <p:cNvSpPr txBox="1"/>
          <p:nvPr/>
        </p:nvSpPr>
        <p:spPr>
          <a:xfrm>
            <a:off x="3135085" y="0"/>
            <a:ext cx="719545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ExtraBold" pitchFamily="2" charset="0"/>
                <a:ea typeface="+mn-ea"/>
                <a:cs typeface="+mn-cs"/>
              </a:rPr>
              <a:t>SONA CHANDI SCHEME</a:t>
            </a:r>
            <a:endParaRPr kumimoji="0" lang="en-IN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ExtraBold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3B71FD-0122-7647-D545-FF59DAB5F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363713"/>
              </p:ext>
            </p:extLst>
          </p:nvPr>
        </p:nvGraphicFramePr>
        <p:xfrm>
          <a:off x="2705568" y="640181"/>
          <a:ext cx="8850333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6093">
                  <a:extLst>
                    <a:ext uri="{9D8B030D-6E8A-4147-A177-3AD203B41FA5}">
                      <a16:colId xmlns:a16="http://schemas.microsoft.com/office/drawing/2014/main" val="3822040749"/>
                    </a:ext>
                  </a:extLst>
                </a:gridCol>
                <a:gridCol w="5454240">
                  <a:extLst>
                    <a:ext uri="{9D8B030D-6E8A-4147-A177-3AD203B41FA5}">
                      <a16:colId xmlns:a16="http://schemas.microsoft.com/office/drawing/2014/main" val="1871195666"/>
                    </a:ext>
                  </a:extLst>
                </a:gridCol>
              </a:tblGrid>
              <a:tr h="43208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ANNUAL TURNOVER in INR (Excl. 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PRIZE OFFER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885098"/>
                  </a:ext>
                </a:extLst>
              </a:tr>
              <a:tr h="24690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1,00,000 TO 2,00,000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10 Gram SILVER Coin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436972"/>
                  </a:ext>
                </a:extLst>
              </a:tr>
              <a:tr h="24690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2,00,001 TO 3,00,000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30 Gram SILVER Coin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957439"/>
                  </a:ext>
                </a:extLst>
              </a:tr>
              <a:tr h="24690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3,00,001 TO 4,00,000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60 Gram SILVER Coin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879915"/>
                  </a:ext>
                </a:extLst>
              </a:tr>
              <a:tr h="24690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4,00,001 TO 5,00,000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Montserrat "/>
                          <a:ea typeface="+mn-ea"/>
                          <a:cs typeface="+mn-cs"/>
                        </a:rPr>
                        <a:t>2 Gram 22 Carat Gold Coin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Montserrat 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41299"/>
                  </a:ext>
                </a:extLst>
              </a:tr>
              <a:tr h="43208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5,00,001 TO 6,00,000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Montserrat "/>
                          <a:ea typeface="+mn-ea"/>
                          <a:cs typeface="+mn-cs"/>
                        </a:rPr>
                        <a:t>3 Gram 22 Carat Gold Coin OR Domestic Trip worth the amount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Montserrat 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999348"/>
                  </a:ext>
                </a:extLst>
              </a:tr>
              <a:tr h="43208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6,00,001 TO 7,00,000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Montserrat "/>
                          <a:ea typeface="+mn-ea"/>
                          <a:cs typeface="+mn-cs"/>
                        </a:rPr>
                        <a:t>4 Gram 22 Carat Gold Coin OR Domestic Trip worth the amount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Montserrat 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271086"/>
                  </a:ext>
                </a:extLst>
              </a:tr>
              <a:tr h="43208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7,00,001 TO 8,00,000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Montserrat "/>
                          <a:ea typeface="+mn-ea"/>
                          <a:cs typeface="+mn-cs"/>
                        </a:rPr>
                        <a:t>5 Gram 22 Carat Gold Coin OR Domestic Trip worth the amount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Montserrat 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27144"/>
                  </a:ext>
                </a:extLst>
              </a:tr>
              <a:tr h="43208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ontserrat "/>
                        </a:rPr>
                        <a:t>8,00,001 and Above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Montserrat "/>
                          <a:ea typeface="+mn-ea"/>
                          <a:cs typeface="+mn-cs"/>
                        </a:rPr>
                        <a:t>5 Gram 22 Carat Gold Coin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Montserrat "/>
                        <a:ea typeface="+mn-ea"/>
                        <a:cs typeface="+mn-cs"/>
                      </a:endParaRPr>
                    </a:p>
                    <a:p>
                      <a:r>
                        <a:rPr lang="en-IN" sz="1400" dirty="0">
                          <a:latin typeface="Montserrat "/>
                        </a:rPr>
                        <a:t>+ 2N 3D Regional Trip as per zone.</a:t>
                      </a:r>
                      <a:endParaRPr lang="en-IN" sz="1400" b="1" dirty="0">
                        <a:highlight>
                          <a:srgbClr val="FFFF00"/>
                        </a:highlight>
                        <a:latin typeface="Montserrat 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79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71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88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1609</TotalTime>
  <Words>483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Montserrat </vt:lpstr>
      <vt:lpstr>Montserrat ExtraBold</vt:lpstr>
      <vt:lpstr>Montserrat Medium</vt:lpstr>
      <vt:lpstr>Office Theme</vt:lpstr>
      <vt:lpstr>DEALER SCHEMES</vt:lpstr>
      <vt:lpstr>DEALER SCHEME MAY JUNE JULY 2025</vt:lpstr>
      <vt:lpstr>MERCHANDISE FOR DEALER OFFER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DEALER SCHEMES</dc:title>
  <dc:creator>Sayali Mohite</dc:creator>
  <cp:lastModifiedBy>purav rambhia</cp:lastModifiedBy>
  <cp:revision>51</cp:revision>
  <dcterms:created xsi:type="dcterms:W3CDTF">2025-04-01T05:07:31Z</dcterms:created>
  <dcterms:modified xsi:type="dcterms:W3CDTF">2025-05-07T10:53:13Z</dcterms:modified>
</cp:coreProperties>
</file>